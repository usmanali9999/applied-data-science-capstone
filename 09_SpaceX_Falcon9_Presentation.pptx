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Inter Bold"/>
      <p:regular r:id="rId14"/>
    </p:embeddedFont>
    <p:embeddedFont>
      <p:font typeface="Inter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1591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SpaceX Falcon 9 First-Stage Landing Prediction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14489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IBM Applied Data Science Capstone Project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Muhammad Usman Ali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7952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135112"/>
            <a:ext cx="4741813" cy="10817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4077" y="12959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14077" y="1602432"/>
            <a:ext cx="43439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space flight pricing drops dramatically if rocket booster stages are recovered cleanly.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069" y="2358628"/>
            <a:ext cx="4741813" cy="10817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4077" y="251943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Goal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14077" y="2825948"/>
            <a:ext cx="43439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 successful recovery parameters using historical flight configurations.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7069" y="3582144"/>
            <a:ext cx="4741813" cy="10817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4077" y="37429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Elements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14077" y="4049464"/>
            <a:ext cx="43439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APIs, web scraping, relational database SQL queries, geospatial maps, and predictive models.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38435"/>
            <a:ext cx="4063082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Data Pipeline Phases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871389"/>
            <a:ext cx="7794947" cy="3507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63494" y="958635"/>
            <a:ext cx="1364088" cy="210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163494" y="1229392"/>
            <a:ext cx="1364088" cy="454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SpaceX API and scrape Wikipedia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887342" y="3589377"/>
            <a:ext cx="1371583" cy="210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Wrangling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87342" y="3860133"/>
            <a:ext cx="1371583" cy="454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labels, flatten params, One-Hot encode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558725" y="902657"/>
            <a:ext cx="1364088" cy="421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Spatial &amp; App Deployment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558725" y="1384210"/>
            <a:ext cx="1364088" cy="30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Folium layers and Dash panel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74489" y="4480247"/>
            <a:ext cx="779494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phase builds on the previous — from raw ingestion through structured transformation to interactive spatial deployment — forming a complete end-to-end analytics pipeline.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94890"/>
            <a:ext cx="33200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Exploratory Data Analysis &amp; Tech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126531" y="430485"/>
            <a:ext cx="227528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Relational Analytics &amp; SQL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531" y="700608"/>
            <a:ext cx="3118545" cy="46759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22776" y="2259434"/>
            <a:ext cx="1599381" cy="467469"/>
          </a:xfrm>
          <a:prstGeom prst="roundRect">
            <a:avLst>
              <a:gd name="adj" fmla="val 6369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98381" y="2335039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 Environment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498381" y="2481188"/>
            <a:ext cx="144817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Formulated explicit relational queries to expose historical operational trend lines.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5422776" y="2762324"/>
            <a:ext cx="1599381" cy="552524"/>
          </a:xfrm>
          <a:prstGeom prst="roundRect">
            <a:avLst>
              <a:gd name="adj" fmla="val 5388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98381" y="2837929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Insights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498381" y="2984078"/>
            <a:ext cx="1448172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payload weight configurations, flight frequencies, and launch site landing distributions.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5422776" y="3350270"/>
            <a:ext cx="1599381" cy="467469"/>
          </a:xfrm>
          <a:prstGeom prst="roundRect">
            <a:avLst>
              <a:gd name="adj" fmla="val 6369"/>
            </a:avLst>
          </a:prstGeom>
          <a:solidFill>
            <a:srgbClr val="110080"/>
          </a:solidFill>
          <a:ln w="4763">
            <a:solidFill>
              <a:srgbClr val="2A19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98381" y="3425875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Repository Folders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498381" y="3572024"/>
            <a:ext cx="144817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processed graphs are stored under the lowercase data directory.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5393" y="371252"/>
            <a:ext cx="3967609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Engineering Tech Stack</a:t>
            </a:r>
            <a:endParaRPr lang="en-US" sz="2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5393" y="908968"/>
            <a:ext cx="243632" cy="2436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55393" y="1283419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Language Runtime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3855393" y="1536576"/>
            <a:ext cx="4862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 ecosystem.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55393" y="1927101"/>
            <a:ext cx="243632" cy="2436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855393" y="230155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Manipulation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3855393" y="2554709"/>
            <a:ext cx="4862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 dataframes and structured NumPy matrices.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55393" y="2945234"/>
            <a:ext cx="243632" cy="2436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855393" y="3319686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 Tools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3855393" y="3572842"/>
            <a:ext cx="4862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Folium map overlays and Plotly Dash interfaces.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55393" y="3963367"/>
            <a:ext cx="243632" cy="2436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855393" y="4337819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Pipeline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3855393" y="4590976"/>
            <a:ext cx="4862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 libraries and GridSearchCV hyperparameter matrices.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87697"/>
            <a:ext cx="4631382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Learning Summary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393" y="810220"/>
            <a:ext cx="4660106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Configurations &amp; Accuracies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393" y="1389459"/>
            <a:ext cx="3997003" cy="28769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25367" y="1389459"/>
            <a:ext cx="1946151" cy="1748582"/>
          </a:xfrm>
          <a:prstGeom prst="roundRect">
            <a:avLst>
              <a:gd name="adj" fmla="val 2926"/>
            </a:avLst>
          </a:prstGeom>
          <a:solidFill>
            <a:srgbClr val="272525"/>
          </a:solidFill>
          <a:ln w="14288">
            <a:solidFill>
              <a:srgbClr val="2A19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61471" y="152556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Tree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861471" y="1820540"/>
            <a:ext cx="1673944" cy="1181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Test: 88.89%</a:t>
            </a:r>
            <a:endParaRPr lang="en-US" sz="9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criterion: gini, max_depth: 8, max_features: sqrt, min_samples_leaf: 1, min_samples_split: 5, splitter: random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776145" y="1389459"/>
            <a:ext cx="1946225" cy="1748582"/>
          </a:xfrm>
          <a:prstGeom prst="roundRect">
            <a:avLst>
              <a:gd name="adj" fmla="val 2926"/>
            </a:avLst>
          </a:prstGeom>
          <a:solidFill>
            <a:srgbClr val="272525"/>
          </a:solidFill>
          <a:ln w="14288">
            <a:solidFill>
              <a:srgbClr val="2A19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12248" y="1525563"/>
            <a:ext cx="1567309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K-Nearest Neighbors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912248" y="1820540"/>
            <a:ext cx="1674019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Test: 83.33%</a:t>
            </a:r>
            <a:endParaRPr lang="en-US" sz="9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algorithm: auto, n_neighbors: 10, p: 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25367" y="3242667"/>
            <a:ext cx="1946151" cy="1395338"/>
          </a:xfrm>
          <a:prstGeom prst="roundRect">
            <a:avLst>
              <a:gd name="adj" fmla="val 3667"/>
            </a:avLst>
          </a:prstGeom>
          <a:solidFill>
            <a:srgbClr val="272525"/>
          </a:solidFill>
          <a:ln w="14288">
            <a:solidFill>
              <a:srgbClr val="2A19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61471" y="3378771"/>
            <a:ext cx="1673944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Support Vector Machine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861471" y="3864099"/>
            <a:ext cx="1673944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Test: 83.33%</a:t>
            </a:r>
            <a:endParaRPr lang="en-US" sz="9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C: 1.0, gamma: 0.0316, kernel: sigmoid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776145" y="3242667"/>
            <a:ext cx="1946225" cy="1395338"/>
          </a:xfrm>
          <a:prstGeom prst="roundRect">
            <a:avLst>
              <a:gd name="adj" fmla="val 3667"/>
            </a:avLst>
          </a:prstGeom>
          <a:solidFill>
            <a:srgbClr val="272525"/>
          </a:solidFill>
          <a:ln w="14288">
            <a:solidFill>
              <a:srgbClr val="2A19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12248" y="3378771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912248" y="3673748"/>
            <a:ext cx="1674019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Test: 83.33%</a:t>
            </a:r>
            <a:endParaRPr lang="en-US" sz="9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C: 0.01, penalty: l2, solver: lbfgs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32101" y="373633"/>
            <a:ext cx="34590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Model Selection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3832101" y="931441"/>
            <a:ext cx="2395910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88.89%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4310137" y="1439242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Peak Test Accuracy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32101" y="1675284"/>
            <a:ext cx="239591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DecisionTreeClassifier — the highest-performing model across all candidates.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344989" y="931441"/>
            <a:ext cx="2395910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950" dirty="0"/>
          </a:p>
        </p:txBody>
      </p:sp>
      <p:sp>
        <p:nvSpPr>
          <p:cNvPr id="8" name="Text 5"/>
          <p:cNvSpPr/>
          <p:nvPr/>
        </p:nvSpPr>
        <p:spPr>
          <a:xfrm>
            <a:off x="6823025" y="1439242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Models Evaluated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44989" y="1675284"/>
            <a:ext cx="239591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Tree, KNN, SVM, and Logistic Regression compared via GridSearchCV.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88508" y="2253928"/>
            <a:ext cx="2395910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5.56%</a:t>
            </a:r>
            <a:endParaRPr lang="en-US" sz="2950" dirty="0"/>
          </a:p>
        </p:txBody>
      </p:sp>
      <p:sp>
        <p:nvSpPr>
          <p:cNvPr id="11" name="Text 8"/>
          <p:cNvSpPr/>
          <p:nvPr/>
        </p:nvSpPr>
        <p:spPr>
          <a:xfrm>
            <a:off x="5566544" y="2761729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 Gap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88508" y="2997771"/>
            <a:ext cx="2395910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 over the 83.33% baseline achieved by SVM, KNN, and Logistic Regression.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832101" y="3603947"/>
            <a:ext cx="4908798" cy="1060698"/>
          </a:xfrm>
          <a:prstGeom prst="roundRect">
            <a:avLst>
              <a:gd name="adj" fmla="val 4561"/>
            </a:avLst>
          </a:prstGeom>
          <a:solidFill>
            <a:srgbClr val="183A1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220" y="3761333"/>
            <a:ext cx="143917" cy="11511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06255" y="3716834"/>
            <a:ext cx="4419526" cy="834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Takeaway: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While SVM, KNN, and Logistic Regression hit a solid baseline of 83.33%, the tree-structured logic adjusted best to the strict classification boundaries of target payloads and orbit traits — making the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DecisionTreeClassifier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optimal choice for this mission-critical prediction task.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2026-06-05T08:04:36Z</dcterms:created>
  <dcterms:modified xsi:type="dcterms:W3CDTF">2026-06-05T08:04:36Z</dcterms:modified>
</cp:coreProperties>
</file>